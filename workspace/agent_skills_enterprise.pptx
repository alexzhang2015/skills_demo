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image" Target="../media/image-3-4.png"/><Relationship Id="rId8" Type="http://schemas.openxmlformats.org/officeDocument/2006/relationships/image" Target="../media/image-3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4939" y="1284387"/>
            <a:ext cx="311412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289555" y="2094012"/>
            <a:ext cx="25647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企业运营智能化转型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22333" y="2865537"/>
            <a:ext cx="40993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从人工运营到AI Agent驱动的智能运营新范式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4689574"/>
            <a:ext cx="1281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技术架构与实践指南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5296" y="4689574"/>
            <a:ext cx="3169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28600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传统运营面临的挑战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60375"/>
            <a:ext cx="2540050" cy="3238798"/>
          </a:xfrm>
          <a:prstGeom prst="roundRect">
            <a:avLst>
              <a:gd name="adj" fmla="val 4000"/>
            </a:avLst>
          </a:prstGeom>
          <a:solidFill>
            <a:srgbClr val="1E3A5F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1763" y="860375"/>
            <a:ext cx="0" cy="3238798"/>
          </a:xfrm>
          <a:prstGeom prst="line">
            <a:avLst/>
          </a:prstGeom>
          <a:noFill/>
          <a:ln w="47625">
            <a:solidFill>
              <a:srgbClr val="00D4FF"/>
            </a:solidFill>
            <a:prstDash val="solid"/>
          </a:ln>
        </p:spPr>
      </p:sp>
      <p:pic>
        <p:nvPicPr>
          <p:cNvPr id="5" name="Image 0" descr="/Users/alexzhang/code/skills_demo/workspace/assets/icon-c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76" y="1114276"/>
            <a:ext cx="507950" cy="507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476" y="1774627"/>
            <a:ext cx="20243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人力成本高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9476" y="2187327"/>
            <a:ext cx="20243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重复性工作占比 60%+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9476" y="2463552"/>
            <a:ext cx="20243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人员培训周期长达数月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476" y="2739777"/>
            <a:ext cx="20243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人才流失导致知识断层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9476" y="3117503"/>
            <a:ext cx="202431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成本持续攀升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301901" y="860375"/>
            <a:ext cx="2540050" cy="3238798"/>
          </a:xfrm>
          <a:prstGeom prst="roundRect">
            <a:avLst>
              <a:gd name="adj" fmla="val 4000"/>
            </a:avLst>
          </a:prstGeom>
          <a:solidFill>
            <a:srgbClr val="1E3A5F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325713" y="860375"/>
            <a:ext cx="0" cy="3238798"/>
          </a:xfrm>
          <a:prstGeom prst="line">
            <a:avLst/>
          </a:prstGeom>
          <a:noFill/>
          <a:ln w="47625">
            <a:solidFill>
              <a:srgbClr val="00D4FF"/>
            </a:solidFill>
            <a:prstDash val="solid"/>
          </a:ln>
        </p:spPr>
      </p:sp>
      <p:pic>
        <p:nvPicPr>
          <p:cNvPr id="13" name="Image 1" descr="/Users/alexzhang/code/skills_demo/workspace/assets/icon-efficienc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427" y="1114276"/>
            <a:ext cx="507950" cy="5079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3427" y="1774627"/>
            <a:ext cx="20243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效率瓶颈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03427" y="2187327"/>
            <a:ext cx="20243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跨部门协作响应慢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03427" y="2463552"/>
            <a:ext cx="20243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信息孤岛严重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603427" y="2739777"/>
            <a:ext cx="20243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流程冗长易出错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603427" y="3117503"/>
            <a:ext cx="202431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效率损耗 40%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095851" y="860375"/>
            <a:ext cx="2540050" cy="3238798"/>
          </a:xfrm>
          <a:prstGeom prst="roundRect">
            <a:avLst>
              <a:gd name="adj" fmla="val 4000"/>
            </a:avLst>
          </a:prstGeom>
          <a:solidFill>
            <a:srgbClr val="1E3A5F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6119664" y="860375"/>
            <a:ext cx="0" cy="3238798"/>
          </a:xfrm>
          <a:prstGeom prst="line">
            <a:avLst/>
          </a:prstGeom>
          <a:noFill/>
          <a:ln w="47625">
            <a:solidFill>
              <a:srgbClr val="00D4FF"/>
            </a:solidFill>
            <a:prstDash val="solid"/>
          </a:ln>
        </p:spPr>
      </p:sp>
      <p:pic>
        <p:nvPicPr>
          <p:cNvPr id="21" name="Image 2" descr="/Users/alexzhang/code/skills_demo/workspace/assets/icon-respon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377" y="1114276"/>
            <a:ext cx="507950" cy="5079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97377" y="1774627"/>
            <a:ext cx="20243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响应滞后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397377" y="2187327"/>
            <a:ext cx="20243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市场变化快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97377" y="2463552"/>
            <a:ext cx="20243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人工决策链路长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397377" y="2739777"/>
            <a:ext cx="20243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错失商机成本高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97377" y="3117503"/>
            <a:ext cx="202431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决策周期 3-5天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507950" y="4226123"/>
            <a:ext cx="8128099" cy="520601"/>
          </a:xfrm>
          <a:prstGeom prst="roundRect">
            <a:avLst>
              <a:gd name="adj" fmla="val 14637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695364" y="4362599"/>
            <a:ext cx="77532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将彻底改变这一现状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494812" y="4873675"/>
            <a:ext cx="144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17450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重塑企业运营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049387"/>
            <a:ext cx="3555950" cy="784175"/>
          </a:xfrm>
          <a:prstGeom prst="roundRect">
            <a:avLst>
              <a:gd name="adj" fmla="val 9717"/>
            </a:avLst>
          </a:prstGeom>
          <a:solidFill>
            <a:srgbClr val="1E3A5F">
              <a:alpha val="90000"/>
            </a:srgbClr>
          </a:solidFill>
          <a:ln w="9525">
            <a:solidFill>
              <a:srgbClr val="3A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0626" y="1211312"/>
            <a:ext cx="31932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20626" y="1443038"/>
            <a:ext cx="3193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传统人工运营</a:t>
            </a:r>
            <a:endParaRPr lang="en-US" sz="1300" dirty="0"/>
          </a:p>
        </p:txBody>
      </p:sp>
      <p:pic>
        <p:nvPicPr>
          <p:cNvPr id="6" name="Image 0" descr="/Users/alexzhang/code/skills_demo/workspace/assets/icon-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50" y="2024062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950" y="2328863"/>
            <a:ext cx="3555950" cy="784175"/>
          </a:xfrm>
          <a:prstGeom prst="roundRect">
            <a:avLst>
              <a:gd name="adj" fmla="val 9717"/>
            </a:avLst>
          </a:prstGeom>
          <a:solidFill>
            <a:srgbClr val="1E3A5F">
              <a:alpha val="9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20626" y="2490788"/>
            <a:ext cx="31932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阶段二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20626" y="2722513"/>
            <a:ext cx="3193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赋能运营</a:t>
            </a:r>
            <a:endParaRPr lang="en-US" sz="1300" dirty="0"/>
          </a:p>
        </p:txBody>
      </p:sp>
      <p:pic>
        <p:nvPicPr>
          <p:cNvPr id="10" name="Image 1" descr="/Users/alexzhang/code/skills_demo/workspace/assets/icon-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50" y="3303538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950" y="3608338"/>
            <a:ext cx="3555950" cy="784175"/>
          </a:xfrm>
          <a:prstGeom prst="roundRect">
            <a:avLst>
              <a:gd name="adj" fmla="val 9717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20626" y="3770263"/>
            <a:ext cx="31932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20626" y="4001988"/>
            <a:ext cx="3193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全自动智能运营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44901" y="1638449"/>
            <a:ext cx="4191149" cy="2355354"/>
          </a:xfrm>
          <a:prstGeom prst="roundRect">
            <a:avLst>
              <a:gd name="adj" fmla="val 4314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708327" y="1838474"/>
            <a:ext cx="37375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1400" dirty="0"/>
          </a:p>
        </p:txBody>
      </p:sp>
      <p:pic>
        <p:nvPicPr>
          <p:cNvPr id="16" name="Image 2" descr="/Users/alexzhang/code/skills_demo/workspace/assets/icon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327" y="2241649"/>
            <a:ext cx="203150" cy="2031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38427" y="2238524"/>
            <a:ext cx="12353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运营效率提升 </a:t>
            </a:r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1200" dirty="0"/>
          </a:p>
        </p:txBody>
      </p:sp>
      <p:pic>
        <p:nvPicPr>
          <p:cNvPr id="18" name="Image 3" descr="/Users/alexzhang/code/skills_demo/workspace/assets/icon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327" y="2552700"/>
            <a:ext cx="203150" cy="2031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38427" y="2549575"/>
            <a:ext cx="12871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人力成本降低 </a:t>
            </a:r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200" dirty="0"/>
          </a:p>
        </p:txBody>
      </p:sp>
      <p:pic>
        <p:nvPicPr>
          <p:cNvPr id="20" name="Image 4" descr="/Users/alexzhang/code/skills_demo/workspace/assets/icon-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8327" y="2863751"/>
            <a:ext cx="203150" cy="2031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38427" y="2860625"/>
            <a:ext cx="14772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7x24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小时不间断运营</a:t>
            </a:r>
            <a:endParaRPr lang="en-US" sz="1200" dirty="0"/>
          </a:p>
        </p:txBody>
      </p:sp>
      <p:pic>
        <p:nvPicPr>
          <p:cNvPr id="22" name="Image 5" descr="/Users/alexzhang/code/skills_demo/workspace/assets/icon-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8327" y="3174802"/>
            <a:ext cx="203150" cy="2031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38427" y="3171676"/>
            <a:ext cx="1709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决策响应从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小时级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</a:t>
            </a:r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秒级</a:t>
            </a:r>
            <a:endParaRPr lang="en-US" sz="1200" dirty="0"/>
          </a:p>
        </p:txBody>
      </p:sp>
      <p:pic>
        <p:nvPicPr>
          <p:cNvPr id="24" name="Image 6" descr="/Users/alexzhang/code/skills_demo/workspace/assets/icon-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8327" y="3485852"/>
            <a:ext cx="203150" cy="20315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38427" y="3482727"/>
            <a:ext cx="10881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跨系统</a:t>
            </a:r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无缝协作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8494812" y="4810125"/>
            <a:ext cx="144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905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四层架构 v2.0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19125"/>
            <a:ext cx="8290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 → 子场景Agent → Workflow编排 → Skills执行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965002"/>
            <a:ext cx="8290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核心执行流程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7950" y="1245989"/>
            <a:ext cx="1663452" cy="625376"/>
          </a:xfrm>
          <a:prstGeom prst="roundRect">
            <a:avLst>
              <a:gd name="adj" fmla="val 10154"/>
            </a:avLst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2002" y="1391989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2002" y="1582489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总部运营Agent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72903" y="1453902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52254" y="1222177"/>
            <a:ext cx="1663452" cy="673001"/>
          </a:xfrm>
          <a:prstGeom prst="roundRect">
            <a:avLst>
              <a:gd name="adj" fmla="val 9435"/>
            </a:avLst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36305" y="1368177"/>
            <a:ext cx="1295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子场景Agent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36305" y="1606302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新品/定价/促销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17206" y="1453902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6557" y="1222177"/>
            <a:ext cx="1663452" cy="673001"/>
          </a:xfrm>
          <a:prstGeom prst="roundRect">
            <a:avLst>
              <a:gd name="adj" fmla="val 9435"/>
            </a:avLst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0608" y="1368177"/>
            <a:ext cx="1295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Workflow编排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80608" y="1606302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流程调度引擎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61509" y="1453902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40860" y="1222177"/>
            <a:ext cx="1663452" cy="673001"/>
          </a:xfrm>
          <a:prstGeom prst="roundRect">
            <a:avLst>
              <a:gd name="adj" fmla="val 9435"/>
            </a:avLst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24911" y="1368177"/>
            <a:ext cx="1295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Skills执行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24911" y="1606302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原子能力调用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7950" y="2047577"/>
            <a:ext cx="1955899" cy="2638723"/>
          </a:xfrm>
          <a:prstGeom prst="roundRect">
            <a:avLst>
              <a:gd name="adj" fmla="val 3896"/>
            </a:avLst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7950" y="2066627"/>
            <a:ext cx="1955899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901" y="2212628"/>
            <a:ext cx="1736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4901" y="2418904"/>
            <a:ext cx="1701998" cy="67270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自然语言理解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意图识别分发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任务总控调度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结果汇总反馈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65350" y="2047577"/>
            <a:ext cx="1955899" cy="2638723"/>
          </a:xfrm>
          <a:prstGeom prst="roundRect">
            <a:avLst>
              <a:gd name="adj" fmla="val 3896"/>
            </a:avLst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565350" y="2066627"/>
            <a:ext cx="1955899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2301" y="2212628"/>
            <a:ext cx="17360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子场景Agent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92301" y="2457004"/>
            <a:ext cx="1701998" cy="67270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新品上市Agent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价格调整Agent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促销配置Agent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数据分析Agent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22750" y="2047577"/>
            <a:ext cx="1955899" cy="2638723"/>
          </a:xfrm>
          <a:prstGeom prst="roundRect">
            <a:avLst>
              <a:gd name="adj" fmla="val 3896"/>
            </a:avLst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22750" y="2066627"/>
            <a:ext cx="1955899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9701" y="2212628"/>
            <a:ext cx="17360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Workflow编排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49701" y="2457004"/>
            <a:ext cx="1701998" cy="67270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DAG流程定义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并行/串行控制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条件分支路由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状态追踪回调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80150" y="2047577"/>
            <a:ext cx="1955899" cy="2638723"/>
          </a:xfrm>
          <a:prstGeom prst="roundRect">
            <a:avLst>
              <a:gd name="adj" fmla="val 3896"/>
            </a:avLst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680150" y="2066627"/>
            <a:ext cx="1955899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7101" y="2212628"/>
            <a:ext cx="17360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Skills执行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07101" y="2457004"/>
            <a:ext cx="1701998" cy="67270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产品Skills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价格Skills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营销Skills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数据Skills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2695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 - 总部运营Agent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7950" y="466576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自然语言驱动的智能任务中枢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730002"/>
            <a:ext cx="2476500" cy="1482626"/>
          </a:xfrm>
          <a:prstGeom prst="roundRect">
            <a:avLst>
              <a:gd name="adj" fmla="val 5140"/>
            </a:avLst>
          </a:prstGeom>
          <a:solidFill>
            <a:srgbClr val="8B5CF6">
              <a:alpha val="20000"/>
            </a:srgbClr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3951" y="876002"/>
            <a:ext cx="22281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3951" y="1161752"/>
            <a:ext cx="2184499" cy="8667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自然语言意图理解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多任务并行识别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子Agent智能分发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执行状态汇总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异常处理与重试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7950" y="2288828"/>
            <a:ext cx="2476500" cy="745927"/>
          </a:xfrm>
          <a:prstGeom prst="roundRect">
            <a:avLst>
              <a:gd name="adj" fmla="val 8513"/>
            </a:avLst>
          </a:prstGeom>
          <a:solidFill>
            <a:srgbClr val="1E3A5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2415778"/>
            <a:ext cx="22670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自然语言输入示例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4901" y="2622054"/>
            <a:ext cx="22670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"帮我上线一个新品川香麻辣鸡腿堡，定价25元，华东区汉堡类产品涨价8%"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36850" y="730002"/>
            <a:ext cx="56091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子场景Agent矩阵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36850" y="1025128"/>
            <a:ext cx="2889200" cy="463451"/>
          </a:xfrm>
          <a:prstGeom prst="roundRect">
            <a:avLst>
              <a:gd name="adj" fmla="val 10961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22575" y="1110853"/>
            <a:ext cx="2772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新品上市Agent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22575" y="1279029"/>
            <a:ext cx="27721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产品创建、定价、上架全流程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36850" y="1551980"/>
            <a:ext cx="2889200" cy="463451"/>
          </a:xfrm>
          <a:prstGeom prst="roundRect">
            <a:avLst>
              <a:gd name="adj" fmla="val 10961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22575" y="1637705"/>
            <a:ext cx="2772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价格调整Agent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22575" y="1805880"/>
            <a:ext cx="27721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区域定价、批量调价、价格策略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136850" y="2078831"/>
            <a:ext cx="2889200" cy="463451"/>
          </a:xfrm>
          <a:prstGeom prst="roundRect">
            <a:avLst>
              <a:gd name="adj" fmla="val 10961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22575" y="2164556"/>
            <a:ext cx="2772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促销配置Agent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22575" y="2332732"/>
            <a:ext cx="27721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满减/折扣/赠品活动配置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136850" y="2605683"/>
            <a:ext cx="2889200" cy="463451"/>
          </a:xfrm>
          <a:prstGeom prst="roundRect">
            <a:avLst>
              <a:gd name="adj" fmla="val 10961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22575" y="2691408"/>
            <a:ext cx="2772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库存管理Agent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22575" y="2859584"/>
            <a:ext cx="27721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库存预警、补货建议、调拨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136850" y="3132534"/>
            <a:ext cx="2889200" cy="463451"/>
          </a:xfrm>
          <a:prstGeom prst="roundRect">
            <a:avLst>
              <a:gd name="adj" fmla="val 10961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22575" y="3218259"/>
            <a:ext cx="2772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数据分析Agent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22575" y="3386435"/>
            <a:ext cx="27721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销售报表、趋势分析、洞察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136850" y="3659386"/>
            <a:ext cx="2889200" cy="463451"/>
          </a:xfrm>
          <a:prstGeom prst="roundRect">
            <a:avLst>
              <a:gd name="adj" fmla="val 10961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222575" y="3745111"/>
            <a:ext cx="2772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内容生成Agent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22575" y="3913287"/>
            <a:ext cx="27721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营销文案、海报、推广素材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524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+ MCP Tools 能力层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542925"/>
            <a:ext cx="8290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Skills编排自动化步骤 | MCP提供原子能力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863501"/>
            <a:ext cx="5689699" cy="637877"/>
          </a:xfrm>
          <a:prstGeom prst="roundRect">
            <a:avLst>
              <a:gd name="adj" fmla="val 9955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8976" y="974527"/>
            <a:ext cx="55770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 Skills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8976" y="1218902"/>
            <a:ext cx="845790" cy="171450"/>
          </a:xfrm>
          <a:prstGeom prst="roundRect">
            <a:avLst>
              <a:gd name="adj" fmla="val 22222"/>
            </a:avLst>
          </a:prstGeom>
          <a:solidFill>
            <a:srgbClr val="7C3AED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5176" y="1257002"/>
            <a:ext cx="7072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inventory.sku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515517" y="1218902"/>
            <a:ext cx="845790" cy="171450"/>
          </a:xfrm>
          <a:prstGeom prst="roundRect">
            <a:avLst>
              <a:gd name="adj" fmla="val 22222"/>
            </a:avLst>
          </a:prstGeom>
          <a:solidFill>
            <a:srgbClr val="7C3AED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91717" y="1257002"/>
            <a:ext cx="7072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inventory.bom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412057" y="1218902"/>
            <a:ext cx="899071" cy="171450"/>
          </a:xfrm>
          <a:prstGeom prst="roundRect">
            <a:avLst>
              <a:gd name="adj" fmla="val 22222"/>
            </a:avLst>
          </a:prstGeom>
          <a:solidFill>
            <a:srgbClr val="7C3AED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88257" y="1257002"/>
            <a:ext cx="761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product.create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361879" y="1218902"/>
            <a:ext cx="952351" cy="171450"/>
          </a:xfrm>
          <a:prstGeom prst="roundRect">
            <a:avLst>
              <a:gd name="adj" fmla="val 22222"/>
            </a:avLst>
          </a:prstGeom>
          <a:solidFill>
            <a:srgbClr val="7C3AED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38079" y="1257002"/>
            <a:ext cx="815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product.publish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7950" y="1577578"/>
            <a:ext cx="5689699" cy="637877"/>
          </a:xfrm>
          <a:prstGeom prst="roundRect">
            <a:avLst>
              <a:gd name="adj" fmla="val 9955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8976" y="1688604"/>
            <a:ext cx="55770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 Skills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8976" y="1932980"/>
            <a:ext cx="792361" cy="171450"/>
          </a:xfrm>
          <a:prstGeom prst="roundRect">
            <a:avLst>
              <a:gd name="adj" fmla="val 22222"/>
            </a:avLst>
          </a:prstGeom>
          <a:solidFill>
            <a:srgbClr val="7C3AED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5176" y="1971080"/>
            <a:ext cx="652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pricing.calc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462088" y="1932980"/>
            <a:ext cx="845790" cy="171450"/>
          </a:xfrm>
          <a:prstGeom prst="roundRect">
            <a:avLst>
              <a:gd name="adj" fmla="val 22222"/>
            </a:avLst>
          </a:prstGeom>
          <a:solidFill>
            <a:srgbClr val="7C3AED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38288" y="1971080"/>
            <a:ext cx="7072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pricing.batch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358628" y="1932980"/>
            <a:ext cx="899071" cy="171450"/>
          </a:xfrm>
          <a:prstGeom prst="roundRect">
            <a:avLst>
              <a:gd name="adj" fmla="val 22222"/>
            </a:avLst>
          </a:prstGeom>
          <a:solidFill>
            <a:srgbClr val="7C3AED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34828" y="1971080"/>
            <a:ext cx="761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pricing.region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07950" y="2291655"/>
            <a:ext cx="5689699" cy="637877"/>
          </a:xfrm>
          <a:prstGeom prst="roundRect">
            <a:avLst>
              <a:gd name="adj" fmla="val 9955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8976" y="2402681"/>
            <a:ext cx="55770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 Skills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8976" y="2647057"/>
            <a:ext cx="792361" cy="171450"/>
          </a:xfrm>
          <a:prstGeom prst="roundRect">
            <a:avLst>
              <a:gd name="adj" fmla="val 22222"/>
            </a:avLst>
          </a:prstGeom>
          <a:solidFill>
            <a:srgbClr val="7C3AED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95176" y="2685157"/>
            <a:ext cx="652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promo.create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462088" y="2647057"/>
            <a:ext cx="899071" cy="171450"/>
          </a:xfrm>
          <a:prstGeom prst="roundRect">
            <a:avLst>
              <a:gd name="adj" fmla="val 22222"/>
            </a:avLst>
          </a:prstGeom>
          <a:solidFill>
            <a:srgbClr val="7C3AED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38288" y="2685157"/>
            <a:ext cx="761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promo.discount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411909" y="2647057"/>
            <a:ext cx="845790" cy="171450"/>
          </a:xfrm>
          <a:prstGeom prst="roundRect">
            <a:avLst>
              <a:gd name="adj" fmla="val 22222"/>
            </a:avLst>
          </a:prstGeom>
          <a:solidFill>
            <a:srgbClr val="7C3AED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488109" y="2685157"/>
            <a:ext cx="7072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campaign.push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07950" y="3005733"/>
            <a:ext cx="5689699" cy="637877"/>
          </a:xfrm>
          <a:prstGeom prst="roundRect">
            <a:avLst>
              <a:gd name="adj" fmla="val 9955"/>
            </a:avLst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8976" y="3116759"/>
            <a:ext cx="55770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 (底层原子能力)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8976" y="3361134"/>
            <a:ext cx="739080" cy="171450"/>
          </a:xfrm>
          <a:prstGeom prst="roundRect">
            <a:avLst>
              <a:gd name="adj" fmla="val 22222"/>
            </a:avLst>
          </a:prstGeom>
          <a:solidFill>
            <a:srgbClr val="0EA5E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5176" y="3399234"/>
            <a:ext cx="5984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pos.product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408807" y="3361134"/>
            <a:ext cx="579090" cy="171450"/>
          </a:xfrm>
          <a:prstGeom prst="roundRect">
            <a:avLst>
              <a:gd name="adj" fmla="val 22222"/>
            </a:avLst>
          </a:prstGeom>
          <a:solidFill>
            <a:srgbClr val="0EA5E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485007" y="3399234"/>
            <a:ext cx="4352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app.sync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038648" y="3361134"/>
            <a:ext cx="632371" cy="171450"/>
          </a:xfrm>
          <a:prstGeom prst="roundRect">
            <a:avLst>
              <a:gd name="adj" fmla="val 22222"/>
            </a:avLst>
          </a:prstGeom>
          <a:solidFill>
            <a:srgbClr val="0EA5E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114848" y="3399234"/>
            <a:ext cx="4895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menuboard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721769" y="3361134"/>
            <a:ext cx="525810" cy="171450"/>
          </a:xfrm>
          <a:prstGeom prst="roundRect">
            <a:avLst>
              <a:gd name="adj" fmla="val 22222"/>
            </a:avLst>
          </a:prstGeom>
          <a:solidFill>
            <a:srgbClr val="0EA5E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797969" y="3399234"/>
            <a:ext cx="3808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erp.api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298329" y="3361134"/>
            <a:ext cx="579090" cy="171450"/>
          </a:xfrm>
          <a:prstGeom prst="roundRect">
            <a:avLst>
              <a:gd name="adj" fmla="val 22222"/>
            </a:avLst>
          </a:prstGeom>
          <a:solidFill>
            <a:srgbClr val="0EA5E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74529" y="3399234"/>
            <a:ext cx="4352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db.query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350050" y="863501"/>
            <a:ext cx="2286000" cy="1111002"/>
          </a:xfrm>
          <a:prstGeom prst="roundRect">
            <a:avLst>
              <a:gd name="adj" fmla="val 5716"/>
            </a:avLst>
          </a:prstGeom>
          <a:solidFill>
            <a:srgbClr val="1E3A5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477000" y="990451"/>
            <a:ext cx="20727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层级关系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77000" y="1228576"/>
            <a:ext cx="698302" cy="17145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534686" y="1266676"/>
            <a:ext cx="582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226052" y="1252389"/>
            <a:ext cx="5439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业务逻辑封装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730901" y="1450777"/>
            <a:ext cx="2518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 ↓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477000" y="1625352"/>
            <a:ext cx="698302" cy="171450"/>
          </a:xfrm>
          <a:prstGeom prst="roundRect">
            <a:avLst>
              <a:gd name="adj" fmla="val 22222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534686" y="1663452"/>
            <a:ext cx="582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226052" y="1649164"/>
            <a:ext cx="5439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原子操作执行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350050" y="2076004"/>
            <a:ext cx="2286000" cy="1081980"/>
          </a:xfrm>
          <a:prstGeom prst="roundRect">
            <a:avLst>
              <a:gd name="adj" fmla="val 5869"/>
            </a:avLst>
          </a:prstGeom>
          <a:solidFill>
            <a:srgbClr val="1E3A5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477000" y="2202954"/>
            <a:ext cx="20727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接口规范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77000" y="2428280"/>
            <a:ext cx="20727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Skill: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477000" y="2548830"/>
            <a:ext cx="20727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name: str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477000" y="2669381"/>
            <a:ext cx="20727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input_schema: dict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477000" y="2789932"/>
            <a:ext cx="20727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output_schema: dict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477000" y="2910483"/>
            <a:ext cx="20727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execute(ctx)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350050" y="3259485"/>
            <a:ext cx="2286000" cy="926604"/>
          </a:xfrm>
          <a:prstGeom prst="roundRect">
            <a:avLst>
              <a:gd name="adj" fmla="val 6853"/>
            </a:avLst>
          </a:prstGeom>
          <a:solidFill>
            <a:srgbClr val="1E3A5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477000" y="3386435"/>
            <a:ext cx="20727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执行保障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77000" y="3611761"/>
            <a:ext cx="20727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幂等性保证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477000" y="3760887"/>
            <a:ext cx="20727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超时自动重试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477000" y="3910013"/>
            <a:ext cx="20727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结果可追溯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524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四层架构 v2.0 协作流程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658713"/>
            <a:ext cx="1098352" cy="241102"/>
          </a:xfrm>
          <a:prstGeom prst="roundRect">
            <a:avLst>
              <a:gd name="adj" fmla="val 21070"/>
            </a:avLst>
          </a:prstGeom>
          <a:solidFill>
            <a:srgbClr val="8B5CF6">
              <a:alpha val="30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351" y="731639"/>
            <a:ext cx="9715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69703" y="70782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60203" y="666601"/>
            <a:ext cx="3239244" cy="225326"/>
          </a:xfrm>
          <a:prstGeom prst="roundRect">
            <a:avLst>
              <a:gd name="adj" fmla="val 16909"/>
            </a:avLst>
          </a:prstGeom>
          <a:solidFill>
            <a:srgbClr val="1E3A5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36403" y="717352"/>
            <a:ext cx="31485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接收自然语言，意图识别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162848" y="70782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53348" y="644426"/>
            <a:ext cx="1098352" cy="269677"/>
          </a:xfrm>
          <a:prstGeom prst="roundRect">
            <a:avLst>
              <a:gd name="adj" fmla="val 18837"/>
            </a:avLst>
          </a:prstGeom>
          <a:solidFill>
            <a:srgbClr val="8B5CF6">
              <a:alpha val="30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16748" y="717352"/>
            <a:ext cx="971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任务分解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7950" y="991791"/>
            <a:ext cx="1098352" cy="241102"/>
          </a:xfrm>
          <a:prstGeom prst="roundRect">
            <a:avLst>
              <a:gd name="adj" fmla="val 21070"/>
            </a:avLst>
          </a:prstGeom>
          <a:solidFill>
            <a:srgbClr val="8B5CF6">
              <a:alpha val="30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351" y="1064716"/>
            <a:ext cx="9715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69703" y="104090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60203" y="999679"/>
            <a:ext cx="3239244" cy="225326"/>
          </a:xfrm>
          <a:prstGeom prst="roundRect">
            <a:avLst>
              <a:gd name="adj" fmla="val 16909"/>
            </a:avLst>
          </a:prstGeom>
          <a:solidFill>
            <a:srgbClr val="1E3A5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36403" y="1050429"/>
            <a:ext cx="31485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分发任务到子场景Agent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162848" y="104090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53348" y="977503"/>
            <a:ext cx="1098352" cy="269677"/>
          </a:xfrm>
          <a:prstGeom prst="roundRect">
            <a:avLst>
              <a:gd name="adj" fmla="val 18837"/>
            </a:avLst>
          </a:prstGeom>
          <a:solidFill>
            <a:srgbClr val="00D4FF">
              <a:alpha val="2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16748" y="1050429"/>
            <a:ext cx="971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子场景Agent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07950" y="1310580"/>
            <a:ext cx="1098352" cy="269677"/>
          </a:xfrm>
          <a:prstGeom prst="roundRect">
            <a:avLst>
              <a:gd name="adj" fmla="val 18837"/>
            </a:avLst>
          </a:prstGeom>
          <a:solidFill>
            <a:srgbClr val="00D4FF">
              <a:alpha val="2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1351" y="1383506"/>
            <a:ext cx="971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子场景Agent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69703" y="137398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60203" y="1332756"/>
            <a:ext cx="3239244" cy="225326"/>
          </a:xfrm>
          <a:prstGeom prst="roundRect">
            <a:avLst>
              <a:gd name="adj" fmla="val 16909"/>
            </a:avLst>
          </a:prstGeom>
          <a:solidFill>
            <a:srgbClr val="1E3A5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936403" y="1383506"/>
            <a:ext cx="31485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生成Workflow执行计划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162848" y="137398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53348" y="1310580"/>
            <a:ext cx="1098352" cy="269677"/>
          </a:xfrm>
          <a:prstGeom prst="roundRect">
            <a:avLst>
              <a:gd name="adj" fmla="val 18837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16748" y="1383506"/>
            <a:ext cx="971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Workflow编排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7950" y="1643658"/>
            <a:ext cx="1098352" cy="269677"/>
          </a:xfrm>
          <a:prstGeom prst="roundRect">
            <a:avLst>
              <a:gd name="adj" fmla="val 18837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71351" y="1716584"/>
            <a:ext cx="971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Workflow编排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669703" y="1707059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60203" y="1665833"/>
            <a:ext cx="3239244" cy="225326"/>
          </a:xfrm>
          <a:prstGeom prst="roundRect">
            <a:avLst>
              <a:gd name="adj" fmla="val 16909"/>
            </a:avLst>
          </a:prstGeom>
          <a:solidFill>
            <a:srgbClr val="1E3A5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936403" y="1716584"/>
            <a:ext cx="31485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调度Skills执行（串行/并行）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162848" y="1707059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53348" y="1643658"/>
            <a:ext cx="1098352" cy="269677"/>
          </a:xfrm>
          <a:prstGeom prst="roundRect">
            <a:avLst>
              <a:gd name="adj" fmla="val 18837"/>
            </a:avLst>
          </a:prstGeom>
          <a:solidFill>
            <a:srgbClr val="7C3AED">
              <a:alpha val="2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416748" y="1716584"/>
            <a:ext cx="971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Skills执行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7950" y="1976735"/>
            <a:ext cx="1098352" cy="269677"/>
          </a:xfrm>
          <a:prstGeom prst="roundRect">
            <a:avLst>
              <a:gd name="adj" fmla="val 18837"/>
            </a:avLst>
          </a:prstGeom>
          <a:solidFill>
            <a:srgbClr val="7C3AED">
              <a:alpha val="2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1351" y="2049661"/>
            <a:ext cx="971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Skills执行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669703" y="204013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60203" y="1998911"/>
            <a:ext cx="3239244" cy="225326"/>
          </a:xfrm>
          <a:prstGeom prst="roundRect">
            <a:avLst>
              <a:gd name="adj" fmla="val 16909"/>
            </a:avLst>
          </a:prstGeom>
          <a:solidFill>
            <a:srgbClr val="1E3A5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936403" y="2049661"/>
            <a:ext cx="31485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调用MCP Tools原子能力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162848" y="204013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53348" y="1991023"/>
            <a:ext cx="1098352" cy="241102"/>
          </a:xfrm>
          <a:prstGeom prst="roundRect">
            <a:avLst>
              <a:gd name="adj" fmla="val 21070"/>
            </a:avLst>
          </a:prstGeom>
          <a:solidFill>
            <a:srgbClr val="0EA5E9">
              <a:alpha val="20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416748" y="2063948"/>
            <a:ext cx="9715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7950" y="2324100"/>
            <a:ext cx="1098352" cy="241102"/>
          </a:xfrm>
          <a:prstGeom prst="roundRect">
            <a:avLst>
              <a:gd name="adj" fmla="val 21070"/>
            </a:avLst>
          </a:prstGeom>
          <a:solidFill>
            <a:srgbClr val="0EA5E9">
              <a:alpha val="20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71351" y="2397026"/>
            <a:ext cx="9715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669703" y="2373213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860203" y="2331988"/>
            <a:ext cx="3239244" cy="225326"/>
          </a:xfrm>
          <a:prstGeom prst="roundRect">
            <a:avLst>
              <a:gd name="adj" fmla="val 16909"/>
            </a:avLst>
          </a:prstGeom>
          <a:solidFill>
            <a:srgbClr val="1E3A5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936403" y="2382738"/>
            <a:ext cx="31485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返回执行结果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162848" y="2373213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53348" y="2309813"/>
            <a:ext cx="1098352" cy="269677"/>
          </a:xfrm>
          <a:prstGeom prst="roundRect">
            <a:avLst>
              <a:gd name="adj" fmla="val 18837"/>
            </a:avLst>
          </a:prstGeom>
          <a:solidFill>
            <a:srgbClr val="7C3AED">
              <a:alpha val="2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416748" y="2382738"/>
            <a:ext cx="971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Skills执行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07950" y="2642890"/>
            <a:ext cx="1098352" cy="269677"/>
          </a:xfrm>
          <a:prstGeom prst="roundRect">
            <a:avLst>
              <a:gd name="adj" fmla="val 18837"/>
            </a:avLst>
          </a:prstGeom>
          <a:solidFill>
            <a:srgbClr val="7C3AED">
              <a:alpha val="2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71351" y="2715816"/>
            <a:ext cx="971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Skills执行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669703" y="270629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860203" y="2665065"/>
            <a:ext cx="3239244" cy="225326"/>
          </a:xfrm>
          <a:prstGeom prst="roundRect">
            <a:avLst>
              <a:gd name="adj" fmla="val 16909"/>
            </a:avLst>
          </a:prstGeom>
          <a:solidFill>
            <a:srgbClr val="1E3A5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936403" y="2715816"/>
            <a:ext cx="31485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汇总结果，状态回传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162848" y="270629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353348" y="2657177"/>
            <a:ext cx="1098352" cy="241102"/>
          </a:xfrm>
          <a:prstGeom prst="roundRect">
            <a:avLst>
              <a:gd name="adj" fmla="val 21070"/>
            </a:avLst>
          </a:prstGeom>
          <a:solidFill>
            <a:srgbClr val="8B5CF6">
              <a:alpha val="30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416748" y="2730103"/>
            <a:ext cx="9715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604099" y="644426"/>
            <a:ext cx="2031950" cy="713929"/>
          </a:xfrm>
          <a:prstGeom prst="roundRect">
            <a:avLst>
              <a:gd name="adj" fmla="val 8894"/>
            </a:avLst>
          </a:prstGeom>
          <a:solidFill>
            <a:srgbClr val="1E3A5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6623149" y="644426"/>
            <a:ext cx="0" cy="713929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43700" y="745927"/>
            <a:ext cx="18266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异步消息队列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743700" y="958602"/>
            <a:ext cx="18266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层间解耦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743700" y="1107728"/>
            <a:ext cx="18266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支持高并发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604099" y="1434554"/>
            <a:ext cx="2031950" cy="713929"/>
          </a:xfrm>
          <a:prstGeom prst="roundRect">
            <a:avLst>
              <a:gd name="adj" fmla="val 8894"/>
            </a:avLst>
          </a:prstGeom>
          <a:solidFill>
            <a:srgbClr val="1E3A5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6623149" y="1434554"/>
            <a:ext cx="0" cy="713929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43700" y="1536055"/>
            <a:ext cx="18266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状态回传机制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743700" y="1748730"/>
            <a:ext cx="18266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实时进度追踪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743700" y="1897856"/>
            <a:ext cx="18266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断点续传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604099" y="2224683"/>
            <a:ext cx="2031950" cy="713929"/>
          </a:xfrm>
          <a:prstGeom prst="roundRect">
            <a:avLst>
              <a:gd name="adj" fmla="val 8894"/>
            </a:avLst>
          </a:prstGeom>
          <a:solidFill>
            <a:srgbClr val="1E3A5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6623149" y="2224683"/>
            <a:ext cx="0" cy="713929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43700" y="2326184"/>
            <a:ext cx="18266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错误处理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743700" y="2538859"/>
            <a:ext cx="18266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指数退避重试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743700" y="2687985"/>
            <a:ext cx="18266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熔断保护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604099" y="3014811"/>
            <a:ext cx="2031950" cy="713929"/>
          </a:xfrm>
          <a:prstGeom prst="roundRect">
            <a:avLst>
              <a:gd name="adj" fmla="val 8894"/>
            </a:avLst>
          </a:prstGeom>
          <a:solidFill>
            <a:srgbClr val="1E3A5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6623149" y="3014811"/>
            <a:ext cx="0" cy="713929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43700" y="3116312"/>
            <a:ext cx="18266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人工审批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743700" y="3328988"/>
            <a:ext cx="18266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关键节点拦截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743700" y="3478113"/>
            <a:ext cx="18266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审批流集成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90500"/>
            <a:ext cx="761851" cy="257175"/>
          </a:xfrm>
          <a:prstGeom prst="roundRect">
            <a:avLst>
              <a:gd name="adj" fmla="val 14815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228600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实战案例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523875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 - 川香麻辣鸡腿堡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079302"/>
            <a:ext cx="5080248" cy="1000125"/>
          </a:xfrm>
          <a:prstGeom prst="roundRect">
            <a:avLst>
              <a:gd name="adj" fmla="val 10159"/>
            </a:avLst>
          </a:prstGeom>
          <a:solidFill>
            <a:srgbClr val="8B5CF6">
              <a:alpha val="20000"/>
            </a:srgbClr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9400" y="1250752"/>
            <a:ext cx="48320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用户自然语言输入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9400" y="1488877"/>
            <a:ext cx="483209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"帮我上线一个新品川香麻辣鸡腿堡，定价25元，华东区汉堡类产品涨价8%，配置一个满30减5的促销活动"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206377"/>
            <a:ext cx="5080248" cy="2031206"/>
          </a:xfrm>
          <a:prstGeom prst="roundRect">
            <a:avLst>
              <a:gd name="adj" fmla="val 375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2333327"/>
            <a:ext cx="49228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 识别出 3 个子任务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4901" y="2742754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8200" y="2752279"/>
            <a:ext cx="14187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 → 新品上市Agent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4901" y="3241030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8200" y="3250555"/>
            <a:ext cx="14187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区域调价 → 价格调整Agent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901" y="3739307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8200" y="3748832"/>
            <a:ext cx="14187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促销配置 → 促销配置Agent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42099" y="1501825"/>
            <a:ext cx="2793950" cy="1317427"/>
          </a:xfrm>
          <a:prstGeom prst="roundRect">
            <a:avLst>
              <a:gd name="adj" fmla="val 5784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88100" y="1647825"/>
            <a:ext cx="25519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传统人工方式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88100" y="1873151"/>
            <a:ext cx="4663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涉及部门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83451" y="1873151"/>
            <a:ext cx="4147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5个部门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8100" y="2073176"/>
            <a:ext cx="4663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操作步骤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1826" y="2073176"/>
            <a:ext cx="3143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8100" y="2273201"/>
            <a:ext cx="2331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耗时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10550" y="2273201"/>
            <a:ext cx="2850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88100" y="2473226"/>
            <a:ext cx="4663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出错概率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75749" y="2473226"/>
            <a:ext cx="1165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42099" y="2946202"/>
            <a:ext cx="2793950" cy="1317427"/>
          </a:xfrm>
          <a:prstGeom prst="roundRect">
            <a:avLst>
              <a:gd name="adj" fmla="val 5784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88100" y="3092202"/>
            <a:ext cx="25519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方式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8100" y="3317528"/>
            <a:ext cx="4663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涉及部门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83451" y="3317528"/>
            <a:ext cx="4147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1人操作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8100" y="3517553"/>
            <a:ext cx="4663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操作步骤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97751" y="3517553"/>
            <a:ext cx="2981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1句话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88100" y="3717578"/>
            <a:ext cx="2331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耗时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97751" y="3717578"/>
            <a:ext cx="2981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3分钟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88100" y="3917603"/>
            <a:ext cx="4663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出错概率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61449" y="3917603"/>
            <a:ext cx="2331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极低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传统人工运营流程 (Before)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593675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新品上市运营流程分解 - 多部门串行协作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50" y="958602"/>
            <a:ext cx="1291233" cy="492026"/>
          </a:xfrm>
          <a:prstGeom prst="roundRect">
            <a:avLst>
              <a:gd name="adj" fmla="val 10325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2478" y="1044327"/>
            <a:ext cx="11421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82478" y="1202978"/>
            <a:ext cx="1142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市场调研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450628"/>
            <a:ext cx="1291233" cy="504825"/>
          </a:xfrm>
          <a:prstGeom prst="rect">
            <a:avLst/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794421" y="1450628"/>
            <a:ext cx="0" cy="504825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950" y="1950690"/>
            <a:ext cx="1291233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713" y="1450628"/>
            <a:ext cx="0" cy="504825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3675" y="1526828"/>
            <a:ext cx="1142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3675" y="1726853"/>
            <a:ext cx="1142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市场部2人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75383" y="958602"/>
            <a:ext cx="1291233" cy="492026"/>
          </a:xfrm>
          <a:prstGeom prst="roundRect">
            <a:avLst>
              <a:gd name="adj" fmla="val 10325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49910" y="1044327"/>
            <a:ext cx="11421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49910" y="1202978"/>
            <a:ext cx="1142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75383" y="1450628"/>
            <a:ext cx="1291233" cy="504825"/>
          </a:xfrm>
          <a:prstGeom prst="rect">
            <a:avLst/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161854" y="1450628"/>
            <a:ext cx="0" cy="504825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5383" y="1950690"/>
            <a:ext cx="1291233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80146" y="1450628"/>
            <a:ext cx="0" cy="504825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1108" y="1526828"/>
            <a:ext cx="1142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61108" y="1726853"/>
            <a:ext cx="1142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产品部1人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42816" y="958602"/>
            <a:ext cx="1291233" cy="492026"/>
          </a:xfrm>
          <a:prstGeom prst="roundRect">
            <a:avLst>
              <a:gd name="adj" fmla="val 10325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17343" y="1044327"/>
            <a:ext cx="11421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7343" y="1202978"/>
            <a:ext cx="1142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营销策划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42816" y="1450628"/>
            <a:ext cx="1291233" cy="504825"/>
          </a:xfrm>
          <a:prstGeom prst="rect">
            <a:avLst/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529286" y="1450628"/>
            <a:ext cx="0" cy="504825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2816" y="1950690"/>
            <a:ext cx="1291233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7579" y="1450628"/>
            <a:ext cx="0" cy="504825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541" y="1526828"/>
            <a:ext cx="1142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3-5天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28541" y="1726853"/>
            <a:ext cx="1142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市场部3人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10249" y="958602"/>
            <a:ext cx="1291233" cy="492026"/>
          </a:xfrm>
          <a:prstGeom prst="roundRect">
            <a:avLst>
              <a:gd name="adj" fmla="val 10325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84776" y="1044327"/>
            <a:ext cx="11421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84776" y="1202978"/>
            <a:ext cx="1142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内容制作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10249" y="1450628"/>
            <a:ext cx="1291233" cy="504825"/>
          </a:xfrm>
          <a:prstGeom prst="rect">
            <a:avLst/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896719" y="1450628"/>
            <a:ext cx="0" cy="504825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0249" y="1950690"/>
            <a:ext cx="1291233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5011" y="1450628"/>
            <a:ext cx="0" cy="504825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95974" y="1526828"/>
            <a:ext cx="1142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5-7天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95974" y="1726853"/>
            <a:ext cx="1142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设计+文案4人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977682" y="958602"/>
            <a:ext cx="1291233" cy="492026"/>
          </a:xfrm>
          <a:prstGeom prst="roundRect">
            <a:avLst>
              <a:gd name="adj" fmla="val 10325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52209" y="1044327"/>
            <a:ext cx="11421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2209" y="1202978"/>
            <a:ext cx="1142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渠道投放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77682" y="1450628"/>
            <a:ext cx="1291233" cy="504825"/>
          </a:xfrm>
          <a:prstGeom prst="rect">
            <a:avLst/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7264152" y="1450628"/>
            <a:ext cx="0" cy="504825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77682" y="1950690"/>
            <a:ext cx="1291233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82444" y="1450628"/>
            <a:ext cx="0" cy="504825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3407" y="1526828"/>
            <a:ext cx="1142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2-3天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63407" y="1726853"/>
            <a:ext cx="1142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运营部2人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45114" y="958602"/>
            <a:ext cx="1291233" cy="492026"/>
          </a:xfrm>
          <a:prstGeom prst="roundRect">
            <a:avLst>
              <a:gd name="adj" fmla="val 10325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419642" y="1044327"/>
            <a:ext cx="11421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19642" y="1202978"/>
            <a:ext cx="1142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效果监测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45114" y="1450628"/>
            <a:ext cx="1291233" cy="504825"/>
          </a:xfrm>
          <a:prstGeom prst="rect">
            <a:avLst/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8631585" y="1450628"/>
            <a:ext cx="0" cy="504825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45114" y="1950690"/>
            <a:ext cx="1291233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49877" y="1450628"/>
            <a:ext cx="0" cy="504825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30839" y="1526828"/>
            <a:ext cx="1142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30839" y="1726853"/>
            <a:ext cx="1142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数据部1人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07950" y="2082403"/>
            <a:ext cx="2607766" cy="698302"/>
          </a:xfrm>
          <a:prstGeom prst="roundRect">
            <a:avLst>
              <a:gd name="adj" fmla="val 9093"/>
            </a:avLst>
          </a:prstGeom>
          <a:solidFill>
            <a:srgbClr val="FF6B6B">
              <a:alpha val="1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44426" y="2218879"/>
            <a:ext cx="23815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人员协调难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44426" y="2482304"/>
            <a:ext cx="23815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跨部门沟通成本高，排期冲突频繁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68117" y="2082403"/>
            <a:ext cx="2607766" cy="698302"/>
          </a:xfrm>
          <a:prstGeom prst="roundRect">
            <a:avLst>
              <a:gd name="adj" fmla="val 9093"/>
            </a:avLst>
          </a:prstGeom>
          <a:solidFill>
            <a:srgbClr val="FF6B6B">
              <a:alpha val="1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404592" y="2218879"/>
            <a:ext cx="23815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信息传递损耗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404592" y="2482304"/>
            <a:ext cx="23815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文档版本混乱，需求理解偏差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028283" y="2082403"/>
            <a:ext cx="2607766" cy="698302"/>
          </a:xfrm>
          <a:prstGeom prst="roundRect">
            <a:avLst>
              <a:gd name="adj" fmla="val 9093"/>
            </a:avLst>
          </a:prstGeom>
          <a:solidFill>
            <a:srgbClr val="FF6B6B">
              <a:alpha val="1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164759" y="2218879"/>
            <a:ext cx="23815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响应速度慢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164759" y="2482304"/>
            <a:ext cx="23815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市场窗口期短，决策链路长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524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川香麻辣鸡腿堡 → 四层架构映射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222302" y="709315"/>
            <a:ext cx="1011882" cy="323850"/>
          </a:xfrm>
          <a:prstGeom prst="roundRect">
            <a:avLst>
              <a:gd name="adj" fmla="val 15686"/>
            </a:avLst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61103" y="804565"/>
            <a:ext cx="734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310384" y="785515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38984" y="695027"/>
            <a:ext cx="908000" cy="352425"/>
          </a:xfrm>
          <a:prstGeom prst="roundRect">
            <a:avLst>
              <a:gd name="adj" fmla="val 14414"/>
            </a:avLst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78824" y="790277"/>
            <a:ext cx="628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3个子Agent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23184" y="785515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1784" y="695027"/>
            <a:ext cx="1032867" cy="352425"/>
          </a:xfrm>
          <a:prstGeom prst="roundRect">
            <a:avLst>
              <a:gd name="adj" fmla="val 14414"/>
            </a:avLst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90376" y="790277"/>
            <a:ext cx="7556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Workflow编排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60852" y="785515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9452" y="695027"/>
            <a:ext cx="832098" cy="352425"/>
          </a:xfrm>
          <a:prstGeom prst="roundRect">
            <a:avLst>
              <a:gd name="adj" fmla="val 14414"/>
            </a:avLst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30051" y="790277"/>
            <a:ext cx="5508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12个Skills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1275904"/>
            <a:ext cx="1936849" cy="3410396"/>
          </a:xfrm>
          <a:prstGeom prst="roundRect">
            <a:avLst>
              <a:gd name="adj" fmla="val 3279"/>
            </a:avLst>
          </a:prstGeom>
          <a:solidFill>
            <a:srgbClr val="1E3A5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7950" y="1294954"/>
            <a:ext cx="1936849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451" y="1415504"/>
            <a:ext cx="17685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9451" y="1625054"/>
            <a:ext cx="1733848" cy="720328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解析自然语言输入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识别3个独立子任务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分发至对应子Agent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汇总执行结果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异常处理与重试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571750" y="1275904"/>
            <a:ext cx="1936849" cy="3410396"/>
          </a:xfrm>
          <a:prstGeom prst="roundRect">
            <a:avLst>
              <a:gd name="adj" fmla="val 3279"/>
            </a:avLst>
          </a:prstGeom>
          <a:solidFill>
            <a:srgbClr val="1E3A5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571750" y="1294954"/>
            <a:ext cx="1936849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3251" y="1415504"/>
            <a:ext cx="17685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子场景Agent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73251" y="1653629"/>
            <a:ext cx="1733848" cy="1018580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新品上市Agent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产品信息录入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定价策略执行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价格调整Agent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区域+品类筛选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促销配置Agent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满减规则配置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35550" y="1275904"/>
            <a:ext cx="1936849" cy="3410396"/>
          </a:xfrm>
          <a:prstGeom prst="roundRect">
            <a:avLst>
              <a:gd name="adj" fmla="val 3279"/>
            </a:avLst>
          </a:prstGeom>
          <a:solidFill>
            <a:srgbClr val="1E3A5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35550" y="1294954"/>
            <a:ext cx="1936849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7050" y="1415504"/>
            <a:ext cx="17685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Workflow编排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37050" y="1653629"/>
            <a:ext cx="1733848" cy="720328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任务依赖分析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新品→定价→促销串行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区域调价可并行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状态实时回调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失败自动重试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699349" y="1275904"/>
            <a:ext cx="1936849" cy="3410396"/>
          </a:xfrm>
          <a:prstGeom prst="roundRect">
            <a:avLst>
              <a:gd name="adj" fmla="val 3279"/>
            </a:avLst>
          </a:prstGeom>
          <a:solidFill>
            <a:srgbClr val="1E3A5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699349" y="1294954"/>
            <a:ext cx="1936849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0850" y="1415504"/>
            <a:ext cx="17685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Skills执行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00850" y="1653629"/>
            <a:ext cx="1733848" cy="698004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product_create_skill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price_set_skill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region_filter_skill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batch_price_skill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promo_create_skill</a:t>
            </a:r>
            <a:endParaRPr lang="en-US" sz="700" dirty="0"/>
          </a:p>
          <a:p>
            <a:pPr algn="l" marL="63500" indent="-635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publish_skill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524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 Workflow 执行流程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35397" y="1288405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49697" y="1432768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43348" y="141848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71948" y="1288405"/>
            <a:ext cx="952351" cy="431602"/>
          </a:xfrm>
          <a:prstGeom prst="roundRect">
            <a:avLst>
              <a:gd name="adj" fmla="val 1471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91914" y="1377255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创建SKU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91914" y="1545431"/>
            <a:ext cx="7124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inventory.sku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800499" y="141848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29099" y="1288405"/>
            <a:ext cx="952351" cy="431602"/>
          </a:xfrm>
          <a:prstGeom prst="roundRect">
            <a:avLst>
              <a:gd name="adj" fmla="val 1471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49065" y="1377255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配置BOM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49065" y="1545431"/>
            <a:ext cx="7124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inventory.bom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057650" y="141848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86250" y="1288405"/>
            <a:ext cx="952351" cy="431602"/>
          </a:xfrm>
          <a:prstGeom prst="roundRect">
            <a:avLst>
              <a:gd name="adj" fmla="val 1471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06216" y="1377255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计算定价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06216" y="1545431"/>
            <a:ext cx="7124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pricing.calc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314801" y="141848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25785" y="1270789"/>
            <a:ext cx="466833" cy="466833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 rot="18900000">
            <a:off x="5683002" y="1451818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051352" y="141848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9952" y="733276"/>
            <a:ext cx="1091952" cy="1542008"/>
          </a:xfrm>
          <a:prstGeom prst="roundRect">
            <a:avLst>
              <a:gd name="adj" fmla="val 6978"/>
            </a:avLst>
          </a:prstGeom>
          <a:noFill/>
          <a:ln w="19050">
            <a:solidFill>
              <a:srgbClr val="94A3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73453" y="828526"/>
            <a:ext cx="3108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并行执行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6375202" y="1034802"/>
            <a:ext cx="901452" cy="339477"/>
          </a:xfrm>
          <a:prstGeom prst="roundRect">
            <a:avLst>
              <a:gd name="adj" fmla="val 18705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69718" y="1098203"/>
            <a:ext cx="7124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POS同步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469718" y="1234678"/>
            <a:ext cx="71241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>
                    <a:alpha val="7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pos.product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6375202" y="1437680"/>
            <a:ext cx="901452" cy="339477"/>
          </a:xfrm>
          <a:prstGeom prst="roundRect">
            <a:avLst>
              <a:gd name="adj" fmla="val 18705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69718" y="1501080"/>
            <a:ext cx="7124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App上架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469718" y="1637556"/>
            <a:ext cx="71241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>
                    <a:alpha val="7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app.sync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6375202" y="1840557"/>
            <a:ext cx="901452" cy="339477"/>
          </a:xfrm>
          <a:prstGeom prst="roundRect">
            <a:avLst>
              <a:gd name="adj" fmla="val 18705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69718" y="1903958"/>
            <a:ext cx="7124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菜单屏更新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469718" y="2040434"/>
            <a:ext cx="71241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>
                    <a:alpha val="7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menuboard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7448104" y="1418481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76704" y="1288405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791004" y="1432768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7450" y="2432447"/>
            <a:ext cx="8509099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6198" y="2589461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46549" y="2538710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编排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346549" y="2662535"/>
            <a:ext cx="7772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流程编排、审批、协作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362450" y="2589461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552801" y="2538710"/>
            <a:ext cx="5440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执行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52801" y="2662535"/>
            <a:ext cx="544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自动化步骤执行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340102" y="2589461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530453" y="2552998"/>
            <a:ext cx="4663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530453" y="2648248"/>
            <a:ext cx="4663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底层原子能力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524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 Skills + MCP 能力矩阵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7950" y="606326"/>
            <a:ext cx="8128099" cy="2090738"/>
          </a:xfrm>
          <a:prstGeom prst="roundRect">
            <a:avLst>
              <a:gd name="adj" fmla="val 3645"/>
            </a:avLst>
          </a:prstGeom>
          <a:solidFill>
            <a:srgbClr val="1E3A5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606326"/>
            <a:ext cx="8128099" cy="279202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880765"/>
            <a:ext cx="812809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4150" y="669727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98550" y="669727"/>
            <a:ext cx="44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名称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920901" y="669727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功能描述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16850" y="684014"/>
            <a:ext cx="525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7950" y="1140916"/>
            <a:ext cx="812809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4150" y="948928"/>
            <a:ext cx="3626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产品创建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98550" y="963216"/>
            <a:ext cx="7072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inventory.sku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920901" y="948928"/>
            <a:ext cx="11836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创建产品SKU，录入基础信息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416850" y="967978"/>
            <a:ext cx="8396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0EA5E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erp.product.create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507950" y="1401068"/>
            <a:ext cx="812809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98550" y="1223367"/>
            <a:ext cx="7072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inventory.bom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920901" y="1209080"/>
            <a:ext cx="9972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配置物料清单，原料配比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416850" y="1228130"/>
            <a:ext cx="5131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0EA5E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erp.bom.set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07950" y="1661220"/>
            <a:ext cx="812809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4150" y="1469231"/>
            <a:ext cx="3626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价格配置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498550" y="1483519"/>
            <a:ext cx="652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pricing.calc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920901" y="1469231"/>
            <a:ext cx="8159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计算定价，成本核算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416850" y="1488281"/>
            <a:ext cx="79302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0EA5E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price.engine.calc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07950" y="1921371"/>
            <a:ext cx="812809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8550" y="1743670"/>
            <a:ext cx="7072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pricing.batch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920901" y="1729383"/>
            <a:ext cx="5439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区域批量调价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416850" y="1748433"/>
            <a:ext cx="8396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0EA5E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price.batch.update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507950" y="2181523"/>
            <a:ext cx="812809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4150" y="1989534"/>
            <a:ext cx="3626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促销配置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498550" y="2003822"/>
            <a:ext cx="652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promo.create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920901" y="1989534"/>
            <a:ext cx="7503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创建满减/折扣活动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416850" y="2008584"/>
            <a:ext cx="7462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0EA5E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promo.engine.set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507950" y="2441674"/>
            <a:ext cx="812809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4150" y="2249686"/>
            <a:ext cx="3626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渠道发布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498550" y="2263973"/>
            <a:ext cx="815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product.publish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920901" y="2249686"/>
            <a:ext cx="8159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多渠道并行发布上架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416850" y="2268736"/>
            <a:ext cx="10262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0EA5E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pos.product | app.sync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1498550" y="2524125"/>
            <a:ext cx="5984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menu.update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920901" y="2509838"/>
            <a:ext cx="7503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菜单屏/点餐屏更新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416850" y="2528888"/>
            <a:ext cx="6530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0EA5E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menuboard.push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01501"/>
            <a:ext cx="82906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川香麻辣鸡腿堡 - 执行时序图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7950" y="785217"/>
            <a:ext cx="689624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564803"/>
            <a:ext cx="155448" cy="101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651" y="558403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运营人员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08133" y="558403"/>
            <a:ext cx="1294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561654" y="558403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285405" y="558403"/>
            <a:ext cx="5221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自然语言: "上线川香麻辣鸡腿堡..."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07950" y="1124545"/>
            <a:ext cx="689624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950" y="904131"/>
            <a:ext cx="155448" cy="101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651" y="897731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408133" y="897731"/>
            <a:ext cx="1294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561654" y="897731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285405" y="897731"/>
            <a:ext cx="5221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解析意图, 识别3个子任务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507950" y="1463873"/>
            <a:ext cx="689624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1243459"/>
            <a:ext cx="155448" cy="101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85651" y="1237059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408133" y="1237059"/>
            <a:ext cx="1294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⇉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561654" y="1237059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新品Agent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285405" y="1237059"/>
            <a:ext cx="5221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分发任务1: 创建新品 [parallel]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07950" y="1803202"/>
            <a:ext cx="689624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1582787"/>
            <a:ext cx="155448" cy="101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85651" y="1576388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新品Agent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408133" y="1576388"/>
            <a:ext cx="1294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561654" y="1576388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285405" y="1576388"/>
            <a:ext cx="5221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编排: product_create → price_set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07950" y="2142530"/>
            <a:ext cx="689624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950" y="1922115"/>
            <a:ext cx="155448" cy="101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85651" y="1915716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408133" y="1915716"/>
            <a:ext cx="1294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1561654" y="1915716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Skills执行器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285405" y="1915716"/>
            <a:ext cx="5221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 product_create_skill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07950" y="2481858"/>
            <a:ext cx="689624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950" y="2261443"/>
            <a:ext cx="155448" cy="101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85651" y="2255044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Skills执行器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408133" y="2255044"/>
            <a:ext cx="1294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561654" y="2255044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产品系统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285405" y="2255044"/>
            <a:ext cx="5221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创建产品: 川香麻辣鸡腿堡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507950" y="2821186"/>
            <a:ext cx="689624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950" y="2600771"/>
            <a:ext cx="155448" cy="101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5651" y="2594372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408133" y="2594372"/>
            <a:ext cx="1294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1561654" y="2594372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Skills执行器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2285405" y="2594372"/>
            <a:ext cx="5221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 price_set_skill (定价25元)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07950" y="3160514"/>
            <a:ext cx="689624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950" y="2940100"/>
            <a:ext cx="155448" cy="101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85651" y="2933700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408133" y="2933700"/>
            <a:ext cx="1294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⇉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561654" y="2933700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价格Agent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285405" y="2933700"/>
            <a:ext cx="5221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分发任务2: 华东区调价 [parallel]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07950" y="3499842"/>
            <a:ext cx="689624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7950" y="3279428"/>
            <a:ext cx="155448" cy="101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85651" y="3273028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价格Agent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408133" y="3273028"/>
            <a:ext cx="1294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561654" y="3273028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Skills执行器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2285405" y="3273028"/>
            <a:ext cx="5221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 batch_price_skill (+8%)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507950" y="3839170"/>
            <a:ext cx="689624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7950" y="3618756"/>
            <a:ext cx="155448" cy="101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85651" y="3612356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408133" y="3612356"/>
            <a:ext cx="1294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⇉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1561654" y="3612356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促销Agent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285405" y="3612356"/>
            <a:ext cx="5221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分发任务3: 满减配置 [parallel]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507950" y="4178498"/>
            <a:ext cx="689624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7950" y="3958084"/>
            <a:ext cx="155448" cy="101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85651" y="3951684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促销Agent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408133" y="3951684"/>
            <a:ext cx="1294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1561654" y="3951684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Skills执行器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2285405" y="3951684"/>
            <a:ext cx="5221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 promo_create_skill (满30减5)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507950" y="4517827"/>
            <a:ext cx="6896249" cy="0"/>
          </a:xfrm>
          <a:prstGeom prst="line">
            <a:avLst/>
          </a:prstGeom>
          <a:noFill/>
          <a:ln w="9525">
            <a:solidFill>
              <a:srgbClr val="3A5A7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7950" y="4297412"/>
            <a:ext cx="155448" cy="101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85651" y="4291013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408133" y="4291013"/>
            <a:ext cx="1294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1561654" y="4291013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运营人员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2285405" y="4291013"/>
            <a:ext cx="5221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汇总结果: 3个任务全部完成 ✓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7556599" y="450652"/>
            <a:ext cx="11010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执行模式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556599" y="70782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7670750" y="682377"/>
            <a:ext cx="4255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Master分发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7556599" y="8728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7670750" y="847427"/>
            <a:ext cx="4724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子Agent处理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7556599" y="103792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7670750" y="1012478"/>
            <a:ext cx="5127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Workflow编排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7556599" y="1202978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7670750" y="1177528"/>
            <a:ext cx="3646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Skills执行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7556599" y="1368028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7670750" y="1342579"/>
            <a:ext cx="3365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并行执行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524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v2.0 技术栈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644426"/>
            <a:ext cx="5816798" cy="637877"/>
          </a:xfrm>
          <a:prstGeom prst="roundRect">
            <a:avLst>
              <a:gd name="adj" fmla="val 9955"/>
            </a:avLst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27000" y="644426"/>
            <a:ext cx="0" cy="637877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7551" y="745927"/>
            <a:ext cx="5687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Agent 框架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7551" y="971252"/>
            <a:ext cx="1018282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3276" y="1018877"/>
            <a:ext cx="8637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Agent SDK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16584" y="971252"/>
            <a:ext cx="679549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02309" y="1018877"/>
            <a:ext cx="5182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46883" y="971252"/>
            <a:ext cx="572244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32608" y="1018877"/>
            <a:ext cx="408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AutoGen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1345704"/>
            <a:ext cx="5816798" cy="637877"/>
          </a:xfrm>
          <a:prstGeom prst="roundRect">
            <a:avLst>
              <a:gd name="adj" fmla="val 9955"/>
            </a:avLst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1345704"/>
            <a:ext cx="0" cy="637877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551" y="1447205"/>
            <a:ext cx="5687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编排引擎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551" y="1672530"/>
            <a:ext cx="589062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3276" y="1720155"/>
            <a:ext cx="4259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87363" y="1672530"/>
            <a:ext cx="493216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73088" y="1720155"/>
            <a:ext cx="3282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Prefect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31330" y="1672530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17055" y="1720155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7950" y="2046982"/>
            <a:ext cx="5816798" cy="637877"/>
          </a:xfrm>
          <a:prstGeom prst="roundRect">
            <a:avLst>
              <a:gd name="adj" fmla="val 9955"/>
            </a:avLst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27000" y="2046982"/>
            <a:ext cx="0" cy="637877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551" y="2148483"/>
            <a:ext cx="5687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开发框架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7551" y="2373809"/>
            <a:ext cx="724644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3276" y="2421434"/>
            <a:ext cx="5642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SDK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422946" y="2373809"/>
            <a:ext cx="843260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08671" y="2421434"/>
            <a:ext cx="6852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Spec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316956" y="2373809"/>
            <a:ext cx="842963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402681" y="2421434"/>
            <a:ext cx="6849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Schema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7950" y="2748260"/>
            <a:ext cx="5816798" cy="609302"/>
          </a:xfrm>
          <a:prstGeom prst="roundRect">
            <a:avLst>
              <a:gd name="adj" fmla="val 10422"/>
            </a:avLst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27000" y="2748260"/>
            <a:ext cx="0" cy="609302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551" y="2849761"/>
            <a:ext cx="56872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7551" y="3046512"/>
            <a:ext cx="722561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33276" y="3094137"/>
            <a:ext cx="5621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420862" y="3046512"/>
            <a:ext cx="758428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506587" y="3094137"/>
            <a:ext cx="5987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Registry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230041" y="3046512"/>
            <a:ext cx="831800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315766" y="3094137"/>
            <a:ext cx="6735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Transport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7950" y="3420963"/>
            <a:ext cx="5816798" cy="637877"/>
          </a:xfrm>
          <a:prstGeom prst="roundRect">
            <a:avLst>
              <a:gd name="adj" fmla="val 9955"/>
            </a:avLst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27000" y="3420963"/>
            <a:ext cx="0" cy="63787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551" y="3522464"/>
            <a:ext cx="5687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7551" y="3747790"/>
            <a:ext cx="459284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33276" y="3795415"/>
            <a:ext cx="2935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Milvus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57585" y="3747790"/>
            <a:ext cx="431155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243310" y="3795415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639491" y="3747790"/>
            <a:ext cx="431155" cy="20955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725216" y="3795415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77149" y="644426"/>
            <a:ext cx="2158901" cy="1066502"/>
          </a:xfrm>
          <a:prstGeom prst="roundRect">
            <a:avLst>
              <a:gd name="adj" fmla="val 5954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588175" y="755452"/>
            <a:ext cx="19755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技术选型建议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88175" y="980777"/>
            <a:ext cx="19755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Claude Agent SDK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588175" y="1114127"/>
            <a:ext cx="1975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编排: Temporal (推荐)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588175" y="1276052"/>
            <a:ext cx="1975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标准化接口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588175" y="1437977"/>
            <a:ext cx="1975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MCP: 统一原子能力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477149" y="1787128"/>
            <a:ext cx="2158901" cy="933152"/>
          </a:xfrm>
          <a:prstGeom prst="roundRect">
            <a:avLst>
              <a:gd name="adj" fmla="val 6805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588175" y="1898154"/>
            <a:ext cx="19755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架构原则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588175" y="2123480"/>
            <a:ext cx="1975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 流程编排+审批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588175" y="2285405"/>
            <a:ext cx="1975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自动化步骤执行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588175" y="2447330"/>
            <a:ext cx="1975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MCP: 底层原子操作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477149" y="2796480"/>
            <a:ext cx="2158901" cy="933152"/>
          </a:xfrm>
          <a:prstGeom prst="roundRect">
            <a:avLst>
              <a:gd name="adj" fmla="val 6805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588175" y="2907506"/>
            <a:ext cx="19755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关键考量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88175" y="3132832"/>
            <a:ext cx="1975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可扩展: 水平扩展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588175" y="3294757"/>
            <a:ext cx="1975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可靠性: 故障恢复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588175" y="3456682"/>
            <a:ext cx="1975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可观测: 全链路追踪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905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企业落地实施路径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788789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0585" y="86811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9552" y="745927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试点验证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9552" y="980777"/>
            <a:ext cx="621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1-2 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1263253"/>
            <a:ext cx="2607766" cy="2171402"/>
          </a:xfrm>
          <a:prstGeom prst="roundRect">
            <a:avLst>
              <a:gd name="adj" fmla="val 3509"/>
            </a:avLst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7950" y="1282303"/>
            <a:ext cx="2607766" cy="0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350" y="1453753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关键里程碑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0350" y="1691878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选定试点场景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0350" y="1904554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核心Skills开发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0350" y="2117229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基础架构搭建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0350" y="2329904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端到端验证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0350" y="2618780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0350" y="2856905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试点Demo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350" y="3069580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效果评估报告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68117" y="788789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90751" y="86811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99718" y="745927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场景扩展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99718" y="980777"/>
            <a:ext cx="621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3-4 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8117" y="1263253"/>
            <a:ext cx="2607766" cy="2171402"/>
          </a:xfrm>
          <a:prstGeom prst="roundRect">
            <a:avLst>
              <a:gd name="adj" fmla="val 3509"/>
            </a:avLst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68117" y="1282303"/>
            <a:ext cx="2607766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0517" y="1453753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关键里程碑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0517" y="1691878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扩展至5-10场景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0517" y="1904554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Skills平台建设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0517" y="2117229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监控告警完善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0517" y="2329904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运营SOP建立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0517" y="2618780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20517" y="2856905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Skills平台v1.0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20517" y="3069580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运营手册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28283" y="788789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50918" y="86811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59885" y="745927"/>
            <a:ext cx="777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规模化推广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59885" y="980777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A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5-6 月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28283" y="1263253"/>
            <a:ext cx="2607766" cy="2171402"/>
          </a:xfrm>
          <a:prstGeom prst="roundRect">
            <a:avLst>
              <a:gd name="adj" fmla="val 3509"/>
            </a:avLst>
          </a:prstGeom>
          <a:solidFill>
            <a:srgbClr val="1E3A5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028283" y="1282303"/>
            <a:ext cx="2607766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0683" y="1453753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关键里程碑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80683" y="1691878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全业务线推广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80683" y="1904554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Skills市场化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80683" y="2117229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持续优化迭代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80683" y="2329904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效果量化评估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80683" y="2618780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交付物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80683" y="2856905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企业级平台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80683" y="3069580"/>
            <a:ext cx="2349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ROI分析报告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286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演进方向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847576"/>
            <a:ext cx="5080248" cy="1070372"/>
          </a:xfrm>
          <a:prstGeom prst="roundRect">
            <a:avLst>
              <a:gd name="adj" fmla="val 949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1763" y="847576"/>
            <a:ext cx="0" cy="1070372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276" y="1025277"/>
            <a:ext cx="47707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自主学习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3276" y="1349127"/>
            <a:ext cx="477076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Agent自动从执行反馈中学习，持续优化Skills调用策略，自动发现并注册新能力。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2044898"/>
            <a:ext cx="5080248" cy="1070372"/>
          </a:xfrm>
          <a:prstGeom prst="roundRect">
            <a:avLst>
              <a:gd name="adj" fmla="val 949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1763" y="2044898"/>
            <a:ext cx="0" cy="1070372"/>
          </a:xfrm>
          <a:prstGeom prst="line">
            <a:avLst/>
          </a:prstGeom>
          <a:noFill/>
          <a:ln w="47625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3276" y="2222599"/>
            <a:ext cx="47707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跨域协作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3276" y="2546449"/>
            <a:ext cx="477076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多Agent联邦协作，跨企业、跨生态的Skills共享与调用，构建开放能力市场。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3242221"/>
            <a:ext cx="5080248" cy="1070372"/>
          </a:xfrm>
          <a:prstGeom prst="roundRect">
            <a:avLst>
              <a:gd name="adj" fmla="val 949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1763" y="3242221"/>
            <a:ext cx="0" cy="1070372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3276" y="3419921"/>
            <a:ext cx="47707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决策智能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3276" y="3743771"/>
            <a:ext cx="477076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从任务执行到战略决策的全面智能化，Agent参与业务规划、资源调配、风险预警。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42099" y="1819275"/>
            <a:ext cx="2793950" cy="1895177"/>
          </a:xfrm>
          <a:prstGeom prst="roundRect">
            <a:avLst>
              <a:gd name="adj" fmla="val 6701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2570" y="2092226"/>
            <a:ext cx="22930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2570" y="2346127"/>
            <a:ext cx="229301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Native 运营体系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92570" y="2812852"/>
            <a:ext cx="229301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构建以AI Agent为核心的企业级智能运营体系，实现从人工驱动到AI驱动的范式转变。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1905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开启智能运营新时代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784027"/>
            <a:ext cx="5207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核心价值重申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7950" y="1139577"/>
            <a:ext cx="2774900" cy="780901"/>
          </a:xfrm>
          <a:prstGeom prst="roundRect">
            <a:avLst>
              <a:gd name="adj" fmla="val 813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4426" y="1276052"/>
            <a:ext cx="255198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4426" y="1622078"/>
            <a:ext cx="25519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运营效率提升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2021979"/>
            <a:ext cx="2774900" cy="780901"/>
          </a:xfrm>
          <a:prstGeom prst="roundRect">
            <a:avLst>
              <a:gd name="adj" fmla="val 813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2158454"/>
            <a:ext cx="255198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426" y="2504480"/>
            <a:ext cx="25519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人力成本降低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904381"/>
            <a:ext cx="2774900" cy="780901"/>
          </a:xfrm>
          <a:prstGeom prst="roundRect">
            <a:avLst>
              <a:gd name="adj" fmla="val 813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4426" y="3040856"/>
            <a:ext cx="255198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7x24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4426" y="3386882"/>
            <a:ext cx="25519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全天候运营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3786783"/>
            <a:ext cx="2774900" cy="838051"/>
          </a:xfrm>
          <a:prstGeom prst="roundRect">
            <a:avLst>
              <a:gd name="adj" fmla="val 7577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4426" y="3923258"/>
            <a:ext cx="25519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秒级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426" y="4326434"/>
            <a:ext cx="25519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B8C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决策响应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42099" y="784027"/>
            <a:ext cx="2849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下一步行动建议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42099" y="1139577"/>
            <a:ext cx="2793950" cy="555427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861149" y="1139577"/>
            <a:ext cx="0" cy="55542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150" y="1241078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07150" y="1412528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识别高价值试点场景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42099" y="1771204"/>
            <a:ext cx="2793950" cy="555427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861149" y="1771204"/>
            <a:ext cx="0" cy="55542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07150" y="1872704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07150" y="2044154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组建跨职能项目团队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42099" y="2402830"/>
            <a:ext cx="2793950" cy="555427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861149" y="2402830"/>
            <a:ext cx="0" cy="55542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07150" y="2504331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07150" y="2675781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启动技术架构评估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42099" y="3034457"/>
            <a:ext cx="2793950" cy="555427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861149" y="3034457"/>
            <a:ext cx="0" cy="55542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07150" y="3135957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07150" y="3307407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制定落地实施计划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42099" y="3742283"/>
            <a:ext cx="2793950" cy="476250"/>
          </a:xfrm>
          <a:prstGeom prst="roundRect">
            <a:avLst>
              <a:gd name="adj" fmla="val 16000"/>
            </a:avLst>
          </a:prstGeom>
          <a:solidFill>
            <a:srgbClr val="667EEA">
              <a:alpha val="20000"/>
            </a:srgbClr>
          </a:solidFill>
          <a:ln w="9525">
            <a:solidFill>
              <a:srgbClr val="667E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979323" y="3904208"/>
            <a:ext cx="25195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Future Together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Skills - 企业运营智能化转型</dc:title>
  <dc:subject>从人工运营到AI Agent驱动的智能运营新范式</dc:subject>
  <dc:creator>Agent Skills Team</dc:creator>
  <cp:lastModifiedBy>Agent Skills Team</cp:lastModifiedBy>
  <cp:revision>1</cp:revision>
  <dcterms:created xsi:type="dcterms:W3CDTF">2025-12-28T15:22:35Z</dcterms:created>
  <dcterms:modified xsi:type="dcterms:W3CDTF">2025-12-28T15:22:35Z</dcterms:modified>
</cp:coreProperties>
</file>